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097859e5ce459e" /><Relationship Type="http://schemas.openxmlformats.org/officeDocument/2006/relationships/extended-properties" Target="/docProps/app.xml" Id="R4eff8c7efa544d6f" /><Relationship Type="http://schemas.openxmlformats.org/officeDocument/2006/relationships/officeDocument" Target="/ppt/presentation.xml" Id="Rfbf82f6743fb4b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7003a4e9054819"/>
  </p:sldMasterIdLst>
  <p:notesMasterIdLst>
    <p:notesMasterId xmlns:r="http://schemas.openxmlformats.org/officeDocument/2006/relationships" r:id="Re5b681aadf51402b"/>
  </p:notesMasterIdLst>
  <p:sldIdLst>
    <p:sldId xmlns:r="http://schemas.openxmlformats.org/officeDocument/2006/relationships" id="256" r:id="R76f23c8d9dc142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c7bbf2fd21447b" /><Relationship Type="http://schemas.openxmlformats.org/officeDocument/2006/relationships/slideMaster" Target="/ppt/slideMasters/slideMaster1.xml" Id="R4f7003a4e9054819" /><Relationship Type="http://schemas.openxmlformats.org/officeDocument/2006/relationships/notesMaster" Target="/ppt/notesMasters/notesMaster1.xml" Id="Re5b681aadf51402b" /><Relationship Type="http://schemas.openxmlformats.org/officeDocument/2006/relationships/presProps" Target="/ppt/presProps.xml" Id="R8bc949ffdb364cf9" /><Relationship Type="http://schemas.openxmlformats.org/officeDocument/2006/relationships/tableStyles" Target="/ppt/tableStyles.xml" Id="Rbf461fc781ae4da7" /><Relationship Type="http://schemas.openxmlformats.org/officeDocument/2006/relationships/slide" Target="/ppt/slides/slide1.xml" Id="R76f23c8d9dc142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bfbc5729024a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c8f005d1c4cfa" /><Relationship Type="http://schemas.openxmlformats.org/officeDocument/2006/relationships/notesMaster" Target="/ppt/notesMasters/notesMaster1.xml" Id="R9126c7f728d844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ef7a3c6ce46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c2c0ca0ab44ffb" /><Relationship Type="http://schemas.openxmlformats.org/officeDocument/2006/relationships/slideLayout" Target="/ppt/slideLayouts/slideLayout1.xml" Id="R1497cd7f96cf4c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97cd7f96cf4c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80079add14eaf" /><Relationship Type="http://schemas.openxmlformats.org/officeDocument/2006/relationships/notesSlide" Target="/ppt/notesSlides/notesSlide1.xml" Id="R203a024098814d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d-rail-top">
            <a:extLst xmlns:a="http://schemas.openxmlformats.org/drawingml/2006/main">
              <a:ext uri="{FF2B5EF4-FFF2-40B4-BE49-F238E27FC236}">
                <a16:creationId xmlns:a16="http://schemas.microsoft.com/office/drawing/2014/main" id="{7ADC066A-F75C-4782-8835-3770AE08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mark">
            <a:extLst xmlns:a="http://schemas.openxmlformats.org/drawingml/2006/main">
              <a:ext uri="{FF2B5EF4-FFF2-40B4-BE49-F238E27FC236}">
                <a16:creationId xmlns:a16="http://schemas.microsoft.com/office/drawing/2014/main" id="{0CC59962-F63B-4C29-86CE-78C04D29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6A2B0C0-0A74-4E75-A2C6-D50C6B80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服务化需求交付计划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07E89D-AD00-41C5-8841-AE7BF154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服务化需求里程碑与任务拆解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74A8554-A466-4EA3-A9D1-B8175D62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三批交付，覆盖数据、模型、算子、硬件与寻优评估能力。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9BAC735-4A76-4C7E-9747-69E5BD23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81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imeline-panel">
            <a:extLst xmlns:a="http://schemas.openxmlformats.org/drawingml/2006/main">
              <a:ext uri="{FF2B5EF4-FFF2-40B4-BE49-F238E27FC236}">
                <a16:creationId xmlns:a16="http://schemas.microsoft.com/office/drawing/2014/main" id="{8629F6AA-6B85-4CA2-B767-3B47E91C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ECEFF3"/>
            </a:solidFill>
            <a:prstDash val="solid"/>
          </a:ln>
        </p:spPr>
      </p:sp>
      <p:sp>
        <p:nvSpPr>
          <p:cNvPr id="8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0037603E-87DD-46B8-BE0A-5E527B5A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9803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交付时间轴</a:t>
            </a:r>
          </a:p>
        </p:txBody>
      </p:sp>
      <p:sp>
        <p:nvSpPr>
          <p:cNvPr id="9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6ECA0640-F246-4812-BA42-576BEC52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9931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先建底座，再开放配置，最后完成寻优与评估闭环。</a:t>
            </a:r>
          </a:p>
        </p:txBody>
      </p:sp>
      <p:sp>
        <p:nvSpPr>
          <p:cNvPr id="10" name="timeline-red">
            <a:extLst xmlns:a="http://schemas.openxmlformats.org/drawingml/2006/main">
              <a:ext uri="{FF2B5EF4-FFF2-40B4-BE49-F238E27FC236}">
                <a16:creationId xmlns:a16="http://schemas.microsoft.com/office/drawing/2014/main" id="{BDCBEE79-CEA8-4526-A188-ACE215D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669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000B"/>
            </a:solidFill>
            <a:prstDash val="solid"/>
          </a:ln>
        </p:spPr>
      </p:sp>
      <p:sp>
        <p:nvSpPr>
          <p:cNvPr id="11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72725BCD-7B40-438C-A8DE-D9D2B3B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71675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5CC"/>
            </a:solidFill>
            <a:prstDash val="solid"/>
          </a:ln>
        </p:spPr>
      </p:sp>
      <p:sp>
        <p:nvSpPr>
          <p:cNvPr id="12" name="node-6/24">
            <a:extLst xmlns:a="http://schemas.openxmlformats.org/drawingml/2006/main">
              <a:ext uri="{FF2B5EF4-FFF2-40B4-BE49-F238E27FC236}">
                <a16:creationId xmlns:a16="http://schemas.microsoft.com/office/drawing/2014/main" id="{EBF0943C-0431-4891-87B1-1312FB3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76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20955">
            <a:solidFill>
              <a:srgbClr val="C7000B"/>
            </a:solidFill>
            <a:prstDash val="solid"/>
          </a:ln>
        </p:spPr>
      </p:sp>
      <p:sp>
        <p:nvSpPr>
          <p:cNvPr id="13" name="date-6/24">
            <a:extLst xmlns:a="http://schemas.openxmlformats.org/drawingml/2006/main">
              <a:ext uri="{FF2B5EF4-FFF2-40B4-BE49-F238E27FC236}">
                <a16:creationId xmlns:a16="http://schemas.microsoft.com/office/drawing/2014/main" id="{10BAD560-F7C4-43A9-BAF7-C1F38D54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71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6/24</a:t>
            </a:r>
          </a:p>
        </p:txBody>
      </p:sp>
      <p:sp>
        <p:nvSpPr>
          <p:cNvPr id="14" name="phase-6/24">
            <a:extLst xmlns:a="http://schemas.openxmlformats.org/drawingml/2006/main">
              <a:ext uri="{FF2B5EF4-FFF2-40B4-BE49-F238E27FC236}">
                <a16:creationId xmlns:a16="http://schemas.microsoft.com/office/drawing/2014/main" id="{4EF38F6B-4AF1-4936-8834-FAA18209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基础能力上线</a:t>
            </a:r>
          </a:p>
        </p:txBody>
      </p:sp>
      <p:sp>
        <p:nvSpPr>
          <p:cNvPr id="15" name="phase-detail-6/24">
            <a:extLst xmlns:a="http://schemas.openxmlformats.org/drawingml/2006/main">
              <a:ext uri="{FF2B5EF4-FFF2-40B4-BE49-F238E27FC236}">
                <a16:creationId xmlns:a16="http://schemas.microsoft.com/office/drawing/2014/main" id="{A7B94595-BA2B-4441-A221-E8D5B937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5745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>
            <a:normAutofit fontScale="100000"/>
          </a:bodyPr>
          <a:lstStyle xmlns:a="http://schemas.openxmlformats.org/drawingml/2006/main"/>
          <a:p xmlns:a="http://schemas.openxmlformats.org/drawingml/2006/main">
            <a:pPr marL="14" indent="-8">
              <a:lnSpc>
                <a:spcPct val="103000"/>
              </a:lnSpc>
              <a:buNone/>
              <a:def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数据库接入</a:t>
            </a:r>
          </a:p>
          <a:p xmlns:a="http://schemas.openxmlformats.org/drawingml/2006/main">
            <a:pPr marL="14" indent="-8">
              <a:lnSpc>
                <a:spcPct val="103000"/>
              </a:lnSpc>
              <a:buNone/>
              <a:def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模型保存与选择</a:t>
            </a:r>
          </a:p>
        </p:txBody>
      </p:sp>
      <p:sp>
        <p:nvSpPr>
          <p:cNvPr id="16" name="node-6/27">
            <a:extLst xmlns:a="http://schemas.openxmlformats.org/drawingml/2006/main">
              <a:ext uri="{FF2B5EF4-FFF2-40B4-BE49-F238E27FC236}">
                <a16:creationId xmlns:a16="http://schemas.microsoft.com/office/drawing/2014/main" id="{564F16F6-B933-4804-AD42-0D54E4CC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C7000B"/>
            </a:solidFill>
            <a:prstDash val="solid"/>
          </a:ln>
        </p:spPr>
      </p:sp>
      <p:sp>
        <p:nvSpPr>
          <p:cNvPr id="17" name="date-6/27">
            <a:extLst xmlns:a="http://schemas.openxmlformats.org/drawingml/2006/main">
              <a:ext uri="{FF2B5EF4-FFF2-40B4-BE49-F238E27FC236}">
                <a16:creationId xmlns:a16="http://schemas.microsoft.com/office/drawing/2014/main" id="{0494A596-5698-4150-B898-23174B21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71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6/27</a:t>
            </a:r>
          </a:p>
        </p:txBody>
      </p:sp>
      <p:sp>
        <p:nvSpPr>
          <p:cNvPr id="18" name="phase-6/27">
            <a:extLst xmlns:a="http://schemas.openxmlformats.org/drawingml/2006/main">
              <a:ext uri="{FF2B5EF4-FFF2-40B4-BE49-F238E27FC236}">
                <a16:creationId xmlns:a16="http://schemas.microsoft.com/office/drawing/2014/main" id="{C6CFD001-6CD1-4942-AA75-3577DB3B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配置能力开放</a:t>
            </a:r>
          </a:p>
        </p:txBody>
      </p:sp>
      <p:sp>
        <p:nvSpPr>
          <p:cNvPr id="19" name="phase-detail-6/27">
            <a:extLst xmlns:a="http://schemas.openxmlformats.org/drawingml/2006/main">
              <a:ext uri="{FF2B5EF4-FFF2-40B4-BE49-F238E27FC236}">
                <a16:creationId xmlns:a16="http://schemas.microsoft.com/office/drawing/2014/main" id="{BA103262-D1D6-4691-B0D2-059EEF78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5745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>
            <a:normAutofit fontScale="100000"/>
          </a:bodyPr>
          <a:lstStyle xmlns:a="http://schemas.openxmlformats.org/drawingml/2006/main"/>
          <a:p xmlns:a="http://schemas.openxmlformats.org/drawingml/2006/main">
            <a:pPr marL="14" indent="-8">
              <a:lnSpc>
                <a:spcPct val="103000"/>
              </a:lnSpc>
              <a:buNone/>
              <a:def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自定义算子管理</a:t>
            </a:r>
          </a:p>
          <a:p xmlns:a="http://schemas.openxmlformats.org/drawingml/2006/main">
            <a:pPr marL="14" indent="-8">
              <a:lnSpc>
                <a:spcPct val="103000"/>
              </a:lnSpc>
              <a:buNone/>
              <a:def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自定义硬件管理</a:t>
            </a:r>
          </a:p>
        </p:txBody>
      </p:sp>
      <p:sp>
        <p:nvSpPr>
          <p:cNvPr id="20" name="node-7/3">
            <a:extLst xmlns:a="http://schemas.openxmlformats.org/drawingml/2006/main">
              <a:ext uri="{FF2B5EF4-FFF2-40B4-BE49-F238E27FC236}">
                <a16:creationId xmlns:a16="http://schemas.microsoft.com/office/drawing/2014/main" id="{8D963573-F687-459C-A51F-4760114A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C7000B"/>
            </a:solidFill>
            <a:prstDash val="solid"/>
          </a:ln>
        </p:spPr>
      </p:sp>
      <p:sp>
        <p:nvSpPr>
          <p:cNvPr id="21" name="date-7/3">
            <a:extLst xmlns:a="http://schemas.openxmlformats.org/drawingml/2006/main">
              <a:ext uri="{FF2B5EF4-FFF2-40B4-BE49-F238E27FC236}">
                <a16:creationId xmlns:a16="http://schemas.microsoft.com/office/drawing/2014/main" id="{6A093D50-4B7B-4841-8C84-ACA89682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71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7/3</a:t>
            </a:r>
          </a:p>
        </p:txBody>
      </p:sp>
      <p:sp>
        <p:nvSpPr>
          <p:cNvPr id="22" name="phase-7/3">
            <a:extLst xmlns:a="http://schemas.openxmlformats.org/drawingml/2006/main">
              <a:ext uri="{FF2B5EF4-FFF2-40B4-BE49-F238E27FC236}">
                <a16:creationId xmlns:a16="http://schemas.microsoft.com/office/drawing/2014/main" id="{31AC7BA3-B678-4904-B81B-97A31D28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90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寻优评估闭环</a:t>
            </a:r>
          </a:p>
        </p:txBody>
      </p:sp>
      <p:sp>
        <p:nvSpPr>
          <p:cNvPr id="23" name="phase-detail-7/3">
            <a:extLst xmlns:a="http://schemas.openxmlformats.org/drawingml/2006/main">
              <a:ext uri="{FF2B5EF4-FFF2-40B4-BE49-F238E27FC236}">
                <a16:creationId xmlns:a16="http://schemas.microsoft.com/office/drawing/2014/main" id="{72EC2BF8-15AA-40F2-979C-710E7499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5745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>
            <a:normAutofit fontScale="100000"/>
          </a:bodyPr>
          <a:lstStyle xmlns:a="http://schemas.openxmlformats.org/drawingml/2006/main"/>
          <a:p xmlns:a="http://schemas.openxmlformats.org/drawingml/2006/main">
            <a:pPr marL="14" indent="-8">
              <a:lnSpc>
                <a:spcPct val="103000"/>
              </a:lnSpc>
              <a:buNone/>
              <a:def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硬件寻优前后端</a:t>
            </a:r>
          </a:p>
          <a:p xmlns:a="http://schemas.openxmlformats.org/drawingml/2006/main">
            <a:pPr marL="14" indent="-8">
              <a:lnSpc>
                <a:spcPct val="103000"/>
              </a:lnSpc>
              <a:buNone/>
              <a:def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4E5969"/>
                </a:solidFill>
                <a:latin typeface="Microsoft YaHei"/>
                <a:ea typeface="Microsoft YaHei"/>
                <a:cs typeface="Microsoft YaHei"/>
              </a:rPr>
              <a:t>算子 shape 与 Roofline 引擎</a:t>
            </a:r>
          </a:p>
        </p:txBody>
      </p:sp>
      <p:sp>
        <p:nvSpPr>
          <p:cNvPr id="24" name="table-title">
            <a:extLst xmlns:a="http://schemas.openxmlformats.org/drawingml/2006/main">
              <a:ext uri="{FF2B5EF4-FFF2-40B4-BE49-F238E27FC236}">
                <a16:creationId xmlns:a16="http://schemas.microsoft.com/office/drawing/2014/main" id="{5FBB4131-139A-4311-9E16-5321F394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9259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需求拆解表</a:t>
            </a:r>
          </a:p>
        </p:txBody>
      </p:sp>
      <p:sp>
        <p:nvSpPr>
          <p:cNvPr id="25" name="table-rule">
            <a:extLst xmlns:a="http://schemas.openxmlformats.org/drawingml/2006/main">
              <a:ext uri="{FF2B5EF4-FFF2-40B4-BE49-F238E27FC236}">
                <a16:creationId xmlns:a16="http://schemas.microsoft.com/office/drawing/2014/main" id="{A69A655C-085E-4C0E-8CDB-C7ADA488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33400" y="3505200"/>
          <a:ext xmlns:a="http://schemas.openxmlformats.org/drawingml/2006/main" cx="11125200" cy="2781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5810250"/>
                <a:gridCol w="1143000"/>
                <a:gridCol w="2362200"/>
              </a:tblGrid>
              <a:tr h="397329"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1F23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细分事项</a:t>
                      </a:r>
                    </a:p>
                  </a:txBody>
                  <a:tcPr marL="91440" marR="91440" marT="45720" marB="45720">
                    <a:solidFill>
                      <a:srgbClr val="1F23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完成节点</a:t>
                      </a:r>
                    </a:p>
                  </a:txBody>
                  <a:tcPr marL="91440" marR="91440" marT="45720" marB="45720">
                    <a:solidFill>
                      <a:srgbClr val="1F23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交付关注</a:t>
                      </a:r>
                    </a:p>
                  </a:txBody>
                  <a:tcPr marL="91440" marR="91440" marT="45720" marB="45720">
                    <a:solidFill>
                      <a:srgbClr val="1F2329"/>
                    </a:solidFill>
                  </a:tcPr>
                </a:tc>
              </a:tr>
              <a:tr h="39732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服务化数据库接入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模型数据库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用户数据数据库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任务数据库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打通数据底座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732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模型管理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手搓模型增加保存功能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推理-模型策略寻优改为选择模型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6/24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沉淀模型资产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39732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算子管理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支持用户配置自定义算子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自定义算子编辑页面开发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自定义算子 CRUD 接口开发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开放算子配置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732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硬件管理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支持用户配置自定义硬件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支持用户配置自定义集群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 支持用户配置自定义芯片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6/27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开放硬件配置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  <a:tr h="39732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硬件寻优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硬件寻优服务化页面改造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硬件寻优后端功能实现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形成寻优闭环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732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算子性能评估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 算子层面跑不同 shape 后端实现</a:t>
                      </a:r>
                    </a:p>
                    <a:p>
                      <a:pPr algn="l"/>
                      <a:r>
                        <a:rPr sz="78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 接入 Component Roofline 算子性能评估引擎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C700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7/3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增强评估引擎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7350DED7-090B-4490-9A79-26318862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数据来源：服务化需求.xlsx / Sheet1</a:t>
            </a:r>
          </a:p>
        </p:txBody>
      </p:sp>
      <p:sp>
        <p:nvSpPr>
          <p:cNvPr id="28" name="brand-note">
            <a:extLst xmlns:a="http://schemas.openxmlformats.org/drawingml/2006/main">
              <a:ext uri="{FF2B5EF4-FFF2-40B4-BE49-F238E27FC236}">
                <a16:creationId xmlns:a16="http://schemas.microsoft.com/office/drawing/2014/main" id="{E7C0907C-BF9E-4CC4-9B35-D9AA0FE7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9375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Huawei-style executive page</a:t>
            </a:r>
          </a:p>
        </p:txBody>
      </p:sp>
    </p:spTree>
    <p:extLst>
      <p:ext uri="{BB962C8B-B14F-4D97-AF65-F5344CB8AC3E}">
        <p14:creationId xmlns:p14="http://schemas.microsoft.com/office/powerpoint/2010/main" val="1904800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2026-06-17T11:50:53.1790000Z</dcterms:created>
  <dcterms:modified xsi:type="dcterms:W3CDTF">2026-06-17T11:50:53.1790000Z</dcterms:modified>
</coreProperties>
</file>