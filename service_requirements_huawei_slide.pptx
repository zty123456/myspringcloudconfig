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c384067c9e4181" /><Relationship Type="http://schemas.openxmlformats.org/officeDocument/2006/relationships/extended-properties" Target="/docProps/app.xml" Id="R8521cb408bbd4074" /><Relationship Type="http://schemas.openxmlformats.org/officeDocument/2006/relationships/officeDocument" Target="/ppt/presentation.xml" Id="R9ac2b11a10234d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e4624f78604ba5"/>
  </p:sldMasterIdLst>
  <p:notesMasterIdLst>
    <p:notesMasterId xmlns:r="http://schemas.openxmlformats.org/officeDocument/2006/relationships" r:id="R7c43b5f2f8644198"/>
  </p:notesMasterIdLst>
  <p:sldIdLst>
    <p:sldId xmlns:r="http://schemas.openxmlformats.org/officeDocument/2006/relationships" id="256" r:id="Rdc4bdb129f6347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c6dc738f6646e2" /><Relationship Type="http://schemas.openxmlformats.org/officeDocument/2006/relationships/slideMaster" Target="/ppt/slideMasters/slideMaster1.xml" Id="R3ce4624f78604ba5" /><Relationship Type="http://schemas.openxmlformats.org/officeDocument/2006/relationships/notesMaster" Target="/ppt/notesMasters/notesMaster1.xml" Id="R7c43b5f2f8644198" /><Relationship Type="http://schemas.openxmlformats.org/officeDocument/2006/relationships/presProps" Target="/ppt/presProps.xml" Id="Rd881a4ee479e4d4f" /><Relationship Type="http://schemas.openxmlformats.org/officeDocument/2006/relationships/tableStyles" Target="/ppt/tableStyles.xml" Id="R6730145c9ac9404b" /><Relationship Type="http://schemas.openxmlformats.org/officeDocument/2006/relationships/slide" Target="/ppt/slides/slide1.xml" Id="Rdc4bdb129f6347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9bc9516e8c4a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ac2d5ce5954302" /><Relationship Type="http://schemas.openxmlformats.org/officeDocument/2006/relationships/notesMaster" Target="/ppt/notesMasters/notesMaster1.xml" Id="R4893d588a34347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c234a780340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98d81ad9074904" /><Relationship Type="http://schemas.openxmlformats.org/officeDocument/2006/relationships/slideLayout" Target="/ppt/slideLayouts/slideLayout1.xml" Id="R71306c62760849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306c62760849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7be62108e4cd0" /><Relationship Type="http://schemas.openxmlformats.org/officeDocument/2006/relationships/notesSlide" Target="/ppt/notesSlides/notesSlide1.xml" Id="R7d0f2cf8e9c044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ed-rail">
            <a:extLst xmlns:a="http://schemas.openxmlformats.org/drawingml/2006/main">
              <a:ext uri="{FF2B5EF4-FFF2-40B4-BE49-F238E27FC236}">
                <a16:creationId xmlns:a16="http://schemas.microsoft.com/office/drawing/2014/main" id="{A7A01E62-9920-443E-A25D-B1FBC79E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red-mark">
            <a:extLst xmlns:a="http://schemas.openxmlformats.org/drawingml/2006/main">
              <a:ext uri="{FF2B5EF4-FFF2-40B4-BE49-F238E27FC236}">
                <a16:creationId xmlns:a16="http://schemas.microsoft.com/office/drawing/2014/main" id="{DE058381-0AAA-481B-9D41-C1DB7E81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51A4BA9-00C2-4EA7-A66F-4F09E1AF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服务化需求交付计划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F052CD-736A-4F09-8D6A-703BCEA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98039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服务化需求里程碑与任务拆解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5622E6A-8FDF-4FF2-8E6D-2BF68F72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围绕数据底座、模型资产、硬件寻优与算子评估，分两批完成服务化能力闭环。</a:t>
            </a:r>
          </a:p>
        </p:txBody>
      </p:sp>
      <p:sp>
        <p:nvSpPr>
          <p:cNvPr id="6" name="page-num">
            <a:extLst xmlns:a="http://schemas.openxmlformats.org/drawingml/2006/main">
              <a:ext uri="{FF2B5EF4-FFF2-40B4-BE49-F238E27FC236}">
                <a16:creationId xmlns:a16="http://schemas.microsoft.com/office/drawing/2014/main" id="{4F3BDC66-B1A7-40C5-9F20-E6864CEB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0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imeline-bg">
            <a:extLst xmlns:a="http://schemas.openxmlformats.org/drawingml/2006/main">
              <a:ext uri="{FF2B5EF4-FFF2-40B4-BE49-F238E27FC236}">
                <a16:creationId xmlns:a16="http://schemas.microsoft.com/office/drawing/2014/main" id="{7B1AF639-2EDA-48E1-BD83-114BEEB2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ECEFF3"/>
            </a:solidFill>
            <a:prstDash val="solid"/>
          </a:ln>
        </p:spPr>
      </p:sp>
      <p:sp>
        <p:nvSpPr>
          <p:cNvPr id="8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6F86DCBA-E59E-4D38-9733-A81A32C7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9803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交付时间轴</a:t>
            </a:r>
          </a:p>
        </p:txBody>
      </p:sp>
      <p:sp>
        <p:nvSpPr>
          <p:cNvPr id="9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63C07177-D56B-493D-9329-2BE9E17C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71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两个节点、四项模块，先完成基础资产，再完成寻优与评估能力。</a:t>
            </a:r>
          </a:p>
        </p:txBody>
      </p:sp>
      <p:sp>
        <p:nvSpPr>
          <p:cNvPr id="10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01831867-5956-4995-80D3-C194E413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95475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7000B"/>
            </a:solidFill>
            <a:prstDash val="solid"/>
          </a:ln>
        </p:spPr>
      </p:sp>
      <p:sp>
        <p:nvSpPr>
          <p:cNvPr id="11" name="timeline-line-gray">
            <a:extLst xmlns:a="http://schemas.openxmlformats.org/drawingml/2006/main">
              <a:ext uri="{FF2B5EF4-FFF2-40B4-BE49-F238E27FC236}">
                <a16:creationId xmlns:a16="http://schemas.microsoft.com/office/drawing/2014/main" id="{D2854B35-EDE1-4FD5-9059-C5776BAD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00250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5CC"/>
            </a:solidFill>
            <a:prstDash val="solid"/>
          </a:ln>
        </p:spPr>
      </p:sp>
      <p:sp>
        <p:nvSpPr>
          <p:cNvPr id="12" name="node-ring-6/24">
            <a:extLst xmlns:a="http://schemas.openxmlformats.org/drawingml/2006/main">
              <a:ext uri="{FF2B5EF4-FFF2-40B4-BE49-F238E27FC236}">
                <a16:creationId xmlns:a16="http://schemas.microsoft.com/office/drawing/2014/main" id="{CFD98083-A1C6-438F-8F29-3D3ED303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sp>
        <p:nvSpPr>
          <p:cNvPr id="13" name="node-date-6/24">
            <a:extLst xmlns:a="http://schemas.openxmlformats.org/drawingml/2006/main">
              <a:ext uri="{FF2B5EF4-FFF2-40B4-BE49-F238E27FC236}">
                <a16:creationId xmlns:a16="http://schemas.microsoft.com/office/drawing/2014/main" id="{C3E7F6B7-5C76-4269-AE33-79FE02EE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002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6/24</a:t>
            </a:r>
          </a:p>
        </p:txBody>
      </p:sp>
      <p:sp>
        <p:nvSpPr>
          <p:cNvPr id="14" name="node-title-6/24">
            <a:extLst xmlns:a="http://schemas.openxmlformats.org/drawingml/2006/main">
              <a:ext uri="{FF2B5EF4-FFF2-40B4-BE49-F238E27FC236}">
                <a16:creationId xmlns:a16="http://schemas.microsoft.com/office/drawing/2014/main" id="{26B6DD7F-8C1B-4AA6-BEBD-77F838FD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38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基础能力上线</a:t>
            </a:r>
          </a:p>
        </p:txBody>
      </p:sp>
      <p:sp>
        <p:nvSpPr>
          <p:cNvPr id="15" name="node-lines-6/24">
            <a:extLst xmlns:a="http://schemas.openxmlformats.org/drawingml/2006/main">
              <a:ext uri="{FF2B5EF4-FFF2-40B4-BE49-F238E27FC236}">
                <a16:creationId xmlns:a16="http://schemas.microsoft.com/office/drawing/2014/main" id="{8D760C50-7A5A-4EF3-A4EB-99EBE241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431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>
            <a:normAutofit fontScale="100000"/>
          </a:bodyPr>
          <a:lstStyle xmlns:a="http://schemas.openxmlformats.org/drawingml/2006/main"/>
          <a:p xmlns:a="http://schemas.openxmlformats.org/drawingml/2006/main">
            <a:pPr marL="15" indent="-8" algn="l">
              <a:lnSpc>
                <a:spcPct val="108000"/>
              </a:lnSpc>
              <a:buNone/>
              <a:defRPr sz="975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服务化数据库接入</a:t>
            </a:r>
          </a:p>
          <a:p xmlns:a="http://schemas.openxmlformats.org/drawingml/2006/main">
            <a:pPr marL="15" indent="-8" algn="l">
              <a:lnSpc>
                <a:spcPct val="108000"/>
              </a:lnSpc>
              <a:buNone/>
              <a:defRPr sz="975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模型管理保存与选择链路</a:t>
            </a:r>
          </a:p>
        </p:txBody>
      </p:sp>
      <p:sp>
        <p:nvSpPr>
          <p:cNvPr id="16" name="node-ring-7/3">
            <a:extLst xmlns:a="http://schemas.openxmlformats.org/drawingml/2006/main">
              <a:ext uri="{FF2B5EF4-FFF2-40B4-BE49-F238E27FC236}">
                <a16:creationId xmlns:a16="http://schemas.microsoft.com/office/drawing/2014/main" id="{63585834-C34D-4AF0-8FB2-54AC7C92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sp>
        <p:nvSpPr>
          <p:cNvPr id="17" name="node-date-7/3">
            <a:extLst xmlns:a="http://schemas.openxmlformats.org/drawingml/2006/main">
              <a:ext uri="{FF2B5EF4-FFF2-40B4-BE49-F238E27FC236}">
                <a16:creationId xmlns:a16="http://schemas.microsoft.com/office/drawing/2014/main" id="{9CB8C77D-4DF1-4071-BCD8-13CA0824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8002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7/3</a:t>
            </a:r>
          </a:p>
        </p:txBody>
      </p:sp>
      <p:sp>
        <p:nvSpPr>
          <p:cNvPr id="18" name="node-title-7/3">
            <a:extLst xmlns:a="http://schemas.openxmlformats.org/drawingml/2006/main">
              <a:ext uri="{FF2B5EF4-FFF2-40B4-BE49-F238E27FC236}">
                <a16:creationId xmlns:a16="http://schemas.microsoft.com/office/drawing/2014/main" id="{13A13EEE-D990-4A84-9A4E-D3F2947C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寻优评估闭环</a:t>
            </a:r>
          </a:p>
        </p:txBody>
      </p:sp>
      <p:sp>
        <p:nvSpPr>
          <p:cNvPr id="19" name="node-lines-7/3">
            <a:extLst xmlns:a="http://schemas.openxmlformats.org/drawingml/2006/main">
              <a:ext uri="{FF2B5EF4-FFF2-40B4-BE49-F238E27FC236}">
                <a16:creationId xmlns:a16="http://schemas.microsoft.com/office/drawing/2014/main" id="{A04D725A-9888-4ABA-9915-28DFEF63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431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>
            <a:normAutofit fontScale="100000"/>
          </a:bodyPr>
          <a:lstStyle xmlns:a="http://schemas.openxmlformats.org/drawingml/2006/main"/>
          <a:p xmlns:a="http://schemas.openxmlformats.org/drawingml/2006/main">
            <a:pPr marL="15" indent="-8" algn="l">
              <a:lnSpc>
                <a:spcPct val="108000"/>
              </a:lnSpc>
              <a:buNone/>
              <a:defRPr sz="975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硬件寻优前后端改造</a:t>
            </a:r>
          </a:p>
          <a:p xmlns:a="http://schemas.openxmlformats.org/drawingml/2006/main">
            <a:pPr marL="15" indent="-8" algn="l">
              <a:lnSpc>
                <a:spcPct val="108000"/>
              </a:lnSpc>
              <a:buNone/>
              <a:defRPr sz="975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算子 shape 与量化策略配置</a:t>
            </a:r>
          </a:p>
        </p:txBody>
      </p:sp>
      <p:sp>
        <p:nvSpPr>
          <p:cNvPr id="20" name="table-title">
            <a:extLst xmlns:a="http://schemas.openxmlformats.org/drawingml/2006/main">
              <a:ext uri="{FF2B5EF4-FFF2-40B4-BE49-F238E27FC236}">
                <a16:creationId xmlns:a16="http://schemas.microsoft.com/office/drawing/2014/main" id="{009D0B7B-F20F-4834-A5C9-91D66807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9259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需求拆解表</a:t>
            </a:r>
          </a:p>
        </p:txBody>
      </p:sp>
      <p:sp>
        <p:nvSpPr>
          <p:cNvPr id="21" name="table-title-rule">
            <a:extLst xmlns:a="http://schemas.openxmlformats.org/drawingml/2006/main">
              <a:ext uri="{FF2B5EF4-FFF2-40B4-BE49-F238E27FC236}">
                <a16:creationId xmlns:a16="http://schemas.microsoft.com/office/drawing/2014/main" id="{9B958764-7B8F-4BDB-B5DB-4F5E9204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533400" y="3562350"/>
          <a:ext xmlns:a="http://schemas.openxmlformats.org/drawingml/2006/main" cx="11125200" cy="2724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5810250"/>
                <a:gridCol w="1238250"/>
                <a:gridCol w="2266950"/>
              </a:tblGrid>
              <a:tr h="544830">
                <a:tc>
                  <a:txBody>
                    <a:bodyPr anchor="ctr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1F23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细分事项</a:t>
                      </a:r>
                    </a:p>
                  </a:txBody>
                  <a:tcPr marL="91440" marR="91440" marT="45720" marB="45720">
                    <a:solidFill>
                      <a:srgbClr val="1F23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完成节点</a:t>
                      </a:r>
                    </a:p>
                  </a:txBody>
                  <a:tcPr marL="91440" marR="91440" marT="45720" marB="45720">
                    <a:solidFill>
                      <a:srgbClr val="1F23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交付关注</a:t>
                      </a:r>
                    </a:p>
                  </a:txBody>
                  <a:tcPr marL="91440" marR="91440" marT="45720" marB="45720">
                    <a:solidFill>
                      <a:srgbClr val="1F2329"/>
                    </a:solidFill>
                  </a:tcPr>
                </a:tc>
              </a:tr>
              <a:tr h="54483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服务化数据库接入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模型数据库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用户数据数据库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任务数据库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C700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打通服务化数据底座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模型管理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手搓模型增加保存功能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推理-模型策略寻优改为选择模型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C700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6/24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沉淀可复用模型资产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  <a:tr h="54483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硬件寻优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硬件寻优服务化页面改造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硬件寻优后端功能实现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C700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7/3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形成端到端寻优闭环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算子性能评估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算子层面跑不同 shape 后端实现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量化策略由内置改为可配置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C700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7/3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增强算子评估灵活性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DBEC02A-E5DA-4D54-B401-B0F37985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数据来源：服务化需求.xlsx / Sheet1</a:t>
            </a:r>
          </a:p>
        </p:txBody>
      </p:sp>
      <p:sp>
        <p:nvSpPr>
          <p:cNvPr id="24" name="footer-tag">
            <a:extLst xmlns:a="http://schemas.openxmlformats.org/drawingml/2006/main">
              <a:ext uri="{FF2B5EF4-FFF2-40B4-BE49-F238E27FC236}">
                <a16:creationId xmlns:a16="http://schemas.microsoft.com/office/drawing/2014/main" id="{857C81EB-228A-45BB-B605-07ABA4CB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Huawei-style executive page</a:t>
            </a:r>
          </a:p>
        </p:txBody>
      </p:sp>
    </p:spTree>
    <p:extLst>
      <p:ext uri="{BB962C8B-B14F-4D97-AF65-F5344CB8AC3E}">
        <p14:creationId xmlns:p14="http://schemas.microsoft.com/office/powerpoint/2010/main" val="843702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2026-06-17T07:32:09.6750000Z</dcterms:created>
  <dcterms:modified xsi:type="dcterms:W3CDTF">2026-06-17T07:32:09.6750000Z</dcterms:modified>
</coreProperties>
</file>